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6FD4">
              <a:alpha val="20000"/>
            </a:srgbClr>
          </a:solidFill>
          <a:ln w="12700">
            <a:solidFill>
              <a:srgbClr val="1A6FD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502920"/>
            <a:ext cx="2560320" cy="329184"/>
          </a:xfrm>
          <a:prstGeom prst="roundRect">
            <a:avLst>
              <a:gd name="adj" fmla="val 22222"/>
            </a:avLst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846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REQUIREMENTS DOCUMENT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Finance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Portal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EdWise Group  ·  Ed-Fi ODS 2026  ·  Indiana DOE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5029200" cy="0"/>
          </a:xfrm>
          <a:prstGeom prst="line">
            <a:avLst/>
          </a:prstGeom>
          <a:noFill/>
          <a:ln w="19050">
            <a:solidFill>
              <a:srgbClr val="1A6F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Certification Portal  ·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v1.0.0  ·  FY2025  ·  Streamlit + Ed-Fi ODS REST 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C5FD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 Will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96012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3075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Purpose, scope, and stakeholders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04872"/>
            <a:ext cx="64008" cy="96012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9631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4780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9169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 stack, API integration, data 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75304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75304"/>
            <a:ext cx="64008" cy="96012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667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36484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0873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finance entities, 3 user steps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34440"/>
            <a:ext cx="64008" cy="96012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3258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13075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Requirements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74650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sections, 40+ validation rules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0487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04872"/>
            <a:ext cx="64008" cy="96012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49631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92040" y="24780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29169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Performance, security, export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75304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75304"/>
            <a:ext cx="64008" cy="96012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6667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92040" y="36484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40873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Finance entities, fields, API mapping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</a:rPr>
              <a:t>01 · 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Purpose &amp; Scope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212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FD4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DOE vendors must submit accurate school finance data to the Ed-Fi ODS system. Manual verification is time-consuming, error-prone, and lacks standardized rule enforcement.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validation, vendors risk: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incorrect financial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DOE certification audits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cross-table financial consistency issues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Violating fiscal year and fund classification rules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188720"/>
            <a:ext cx="2926080" cy="102412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06440" y="12344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949440" y="129844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Entities Validated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2395728"/>
            <a:ext cx="2926080" cy="102412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244144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949440" y="2505456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3602736"/>
            <a:ext cx="2926080" cy="102412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06440" y="3648456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949440" y="3712464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Rules Enforced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</a:rPr>
              <a:t>02 · 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 Stack &amp; Data 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08760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258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92024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1234440"/>
            <a:ext cx="1508760" cy="137160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3258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93392" y="18288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(Python)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02152" y="192024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2464" y="1234440"/>
            <a:ext cx="150876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3258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12464" y="18288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21224" y="192024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31536" y="1234440"/>
            <a:ext cx="150876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31536" y="13258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31536" y="18288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Ed-Fi ODS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0296" y="192024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0608" y="1234440"/>
            <a:ext cx="1508760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0608" y="13258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50608" y="18288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FD4"/>
                </a:solidFill>
              </a:rPr>
              <a:t>TECHNOLOGY STACK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54680"/>
          <a:ext cx="8412480" cy="169164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3749040"/>
              </a:tblGrid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5E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(Python)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UI + interactive data tables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Client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OAuth2 authentication &amp; API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DataFrame manipulation &amp; validation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openpyxl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certification report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Ed-Fi ODS REST API 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data source — Ed-Fi + IDOE namespaces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</a:rPr>
              <a:t>03 · FUNCTIONAL REQUIREMENTS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Workflow — 3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9748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697480" cy="50292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Parameters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4871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 Identifier (e.g. S-1394-25110-940-5170-51)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Education Organization 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Fiscal Year (e.g. 2025)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Optional: Approved Budget for budget validation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 for multiple records in one run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9748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697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704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7373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Vendor Sample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176272"/>
            <a:ext cx="24871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editable data tables (one per finance entity)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LocalAccount, LocalActual, LocalCapitalizedEquipment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LocalSubaward, LocalUnusedLeavePayment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 ID auto-synced from Step 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 edit supported for scenario testing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69748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43000"/>
            <a:ext cx="269748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1704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17373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Validate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2176272"/>
            <a:ext cx="24871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API fetch from Ed-Fi ODS (OAuth2)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5 entities fetched per account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validation sections executed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Results rendered with Pass/Fail/Flag/Skip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Excel certification report downloadable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</a:rPr>
              <a:t>03 · FUNCTIONAL REQUIREMENTS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 Finance Entities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64008" cy="1627632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LocalAccount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ed-fi/LocalAccounts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8196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 dimension codes &amp; classification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09397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Fields: AccountIdentifier, FunctionCode, FundCode, ObjectCode, OperationalUnitCode, SectionCode, SubCategoryCode, ChartOfAccountIdentifier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37560" y="1143000"/>
            <a:ext cx="27889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143000"/>
            <a:ext cx="64008" cy="162763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234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LocalActual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5819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ed-fi/localActuals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0" y="18196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 transaction amount — primary financial baseline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09397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Fields: Amount, AsOfDate, FinancialCollectionDescriptor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0" y="1143000"/>
            <a:ext cx="27889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143000"/>
            <a:ext cx="64008" cy="16276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234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LocalCapitalized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15819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idoe/LocalCapitalizedEquipment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37960" y="18196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Capitalized equipment purchases with threshold check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209397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Fields: PaymentAmount, PerUnitCost, CapitalizedThreshold, AcquisitionDate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944368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44368"/>
            <a:ext cx="64008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3580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LocalSubaward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38328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idoe/LocalSubawards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362102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Subaward contracts with 50k split logic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895344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Fields: ExpenditureAmount, First50k, Excess50k, SubawardAmount, ContractNumberOfYears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2944368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944368"/>
            <a:ext cx="64008" cy="16276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03580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🏖️ LocalUnusedLeave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38328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idoe/LocalUnusedLeavePayments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0600" y="362102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Employee unused leave payouts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3895344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Fields: DirectUnusedLeavePaymentAmount, IndirectUnusedLeavePaymentAmount, PaymentDate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</a:rPr>
              <a:t>04 · VALIDATION REQUIREMENTS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 Validation Sections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02920" cy="64008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1556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170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Validation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Format, required fields, API code lookups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15568"/>
            <a:ext cx="50292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11556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170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Validation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44475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math, date sequences, reasonability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883664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883664"/>
            <a:ext cx="5029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188366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1938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Cross-Table Consistency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21284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spending vs. LocalActual Amount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883664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883664"/>
            <a:ext cx="50292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88366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1938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Allocation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21284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 vs. budget; running balance checks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65176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651760"/>
            <a:ext cx="5029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26517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7066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298094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Within-table &amp; cross-table double-counting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65176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651760"/>
            <a:ext cx="5029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26517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27066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&amp; Classification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298094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Capital fund misuse; ObjectCode alignment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419856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419856"/>
            <a:ext cx="502920" cy="6400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" y="341985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34747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&amp; Contract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374904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ExpenditureAmount vs. ContractNumberOfYears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419856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419856"/>
            <a:ext cx="50292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27448" y="341985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34747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Process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03520" y="374904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 → Actual → Payment chain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187952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4187952"/>
            <a:ext cx="5029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" y="418795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14400" y="42428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Consistency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4400" y="451713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FinancialCollectionDescriptor uniformity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4187952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4187952"/>
            <a:ext cx="5029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27448" y="418795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03520" y="42428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Reporting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3520" y="451713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Excel report with per-section sheets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</a:rPr>
              <a:t>04 · VALIDATION REQUIREMENTS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Core Business Rules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Capitalized Equipment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8988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PerUnitCost ≤ PaymentAmount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PaymentAmount ≥ CapitalizedThreshold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AcquisitionDate ≤ AsOfDate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AcquisitionDate within FiscalYear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395728"/>
            <a:ext cx="416052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957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Rules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7004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dates within FiscalYear (Jul 1→Jun 30)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AsOfDate within FiscalYear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PaymentDate ≤ AsOfDate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must be valid calendar dates (YYYY-MM-DD)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675888"/>
            <a:ext cx="41605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758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Rules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9319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5020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LocalAccount must exist first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LocalActual must exist before payments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Equipment/Subaward/Leave require LocalActual context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115568"/>
            <a:ext cx="41148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15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Subaward (50k Split Logic)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371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8988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First50k + Excess50k = ExpenditureAmount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First50k ≤ 50,000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Exp ≤ 50k: First50k = Exp, Excess50k = 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Exp &gt; 50k: First50k = 50,000, Excess50k = Exp − 50k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SubawardAmount ≤ ExpenditureAmount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624328"/>
            <a:ext cx="411480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24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Consistency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89864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 ≤ LocalActual Amount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Amount ≤ Approved Budget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balance ≥ 0 after each allocation category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</a:rPr>
              <a:t>05 · NON-FUNCTIONAL REQUIREMENTS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Performance, Security &amp; Export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15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715768" cy="34747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17904"/>
            <a:ext cx="253288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fetch: &lt; 30 seconds for single account (5 resources)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caching with auto-refresh on expiry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Multi-record batch fetching in sequence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session state reuse across reruns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18688" y="1115568"/>
            <a:ext cx="2715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115568"/>
            <a:ext cx="2715768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11556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517904"/>
            <a:ext cx="253288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OAuth2 Client Credentials flow — no user credentials in URL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keys stored in Streamlit secrets.toml (not committed)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Bearer tokens cached in session state (not persisted to disk)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HTTPS-only API connections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63056" y="1115568"/>
            <a:ext cx="2715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115568"/>
            <a:ext cx="271576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11556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Export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54496" y="1517904"/>
            <a:ext cx="253288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Excel report (.xlsx) with named sheets per section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Fails-only sheets for each validation area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Summary sheet with Pass/Fail counts per entity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Filename includes timestamp for versioning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2715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35808"/>
            <a:ext cx="271576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3580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UI / UX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438144"/>
            <a:ext cx="253288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CSS styling — Plus Jakarta Sans font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Responsive wide layout, collapsible sidebar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Color-coded status rows (green/red/yellow/grey)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Consistent stat summary cards across all results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18688" y="3035808"/>
            <a:ext cx="2715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3035808"/>
            <a:ext cx="271576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03580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API Compatibility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3438144"/>
            <a:ext cx="253288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Ed-Fi ODS REST API v3 — schoolYear=2025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Supports both ed-fi and idoe namespaces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Handles HTTP 200 empty response vs. HTTP error distinctly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Nested JSON path extraction for complex API responses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63056" y="3035808"/>
            <a:ext cx="2715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3035808"/>
            <a:ext cx="271576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03580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Maintainability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3438144"/>
            <a:ext cx="253288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Configurable fund/object code sets (CAPITAL_FUND_CODES etc.)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Modular validation functions per section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prep_display_df() helper for consistent table rendering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Single file deployment — no external template files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</a:rPr>
              <a:t>06 · DATA REQUIREMENTS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Field Specifications &amp; API Mapping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FD4"/>
                </a:solidFill>
              </a:rPr>
              <a:t>FIELD VALIDATION RULES BY TYPE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657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Applied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AccountIdentifier, ChartOfAccountIdentifier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Format: alphanumeric + hyphens. Must match query param exactly.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EducationOrganizationId, ChartOfAccountEdOrgId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numeric integer. Must match query param.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 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2000–2100. Must match query param.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Fields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Amount, PaymentAmount, PerUnitCost, ExpenditureAmount, SubawardAmount, First50k, Excess50k, Direct/IndirectLeaveAmount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Non-negative numeric. Cross-field math rules applied.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Fields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AsOfDate, AcquisitionDate, PaymentDate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YYYY-MM-DD. Must be real calendar date. Sequence rules applied. Must be within FiscalYear.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 Codes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FunctionCode, FundCode, ObjectCode, OperationalUnitCode, SectionCode, SubCategoryCode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code validated via live API lookup (schoolYear=2025).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FinancialCollectionDescriptor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via API. Strip namespace prefix (#). Must be consistent across all related records.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Fields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AccountName, EquipmentType, EquipmentDescription, DepartmentName, VendorOrganizationName, EmployeeName, JobTitle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Non-empty string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Fields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ContractNumberOfYears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Non-negative whole number. Reasonability range: 1–30.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6FD4">
              <a:alpha val="12000"/>
            </a:srgbClr>
          </a:solidFill>
          <a:ln w="12700">
            <a:solidFill>
              <a:srgbClr val="1A6F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3C5FD"/>
                </a:solidFill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Application Delivers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100% automated finance validation — 10 sections, 40+ rules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3055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Live Ed-Fi ODS API integration — real data, real 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Multi-record batch validation in a single run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363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Field-level, cross-table, lifecycle, and duplicate checks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3931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Downloadable Excel certification report for DOE submission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14223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Professional, consistent UI with color-coded validation status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7863840" cy="0"/>
          </a:xfrm>
          <a:prstGeom prst="line">
            <a:avLst/>
          </a:prstGeom>
          <a:noFill/>
          <a:ln w="12700">
            <a:solidFill>
              <a:srgbClr val="1A6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817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EdWise Group  ·  Vendor Certification Portal  ·  v1.0.0  ·  Ed-Fi ODS 2026  ·  Indiana DOE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Finance Verification — Requirements Document</dc:title>
  <dc:subject>PptxGenJS Presentation</dc:subject>
  <dc:creator>EdWise Group</dc:creator>
  <cp:lastModifiedBy>EdWise Group</cp:lastModifiedBy>
  <cp:revision>1</cp:revision>
  <dcterms:created xsi:type="dcterms:W3CDTF">2026-03-25T12:01:35Z</dcterms:created>
  <dcterms:modified xsi:type="dcterms:W3CDTF">2026-03-25T12:01:35Z</dcterms:modified>
</cp:coreProperties>
</file>